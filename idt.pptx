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defaultTextStyle>
    <a:defPPr lvl="0"/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1A8DAB-AE83-40DC-88AE-8B680889F1E8}" v="1" dt="2024-05-30T03:59:27.6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83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yotsna .G" userId="767bc7470b6b287b" providerId="LiveId" clId="{DB1A8DAB-AE83-40DC-88AE-8B680889F1E8}"/>
    <pc:docChg chg="custSel modSld">
      <pc:chgData name="Jyotsna .G" userId="767bc7470b6b287b" providerId="LiveId" clId="{DB1A8DAB-AE83-40DC-88AE-8B680889F1E8}" dt="2024-05-30T04:03:38.736" v="70" actId="478"/>
      <pc:docMkLst>
        <pc:docMk/>
      </pc:docMkLst>
      <pc:sldChg chg="modSp mod">
        <pc:chgData name="Jyotsna .G" userId="767bc7470b6b287b" providerId="LiveId" clId="{DB1A8DAB-AE83-40DC-88AE-8B680889F1E8}" dt="2024-05-30T03:56:46.600" v="5" actId="1076"/>
        <pc:sldMkLst>
          <pc:docMk/>
          <pc:sldMk cId="0" sldId="257"/>
        </pc:sldMkLst>
        <pc:spChg chg="mod">
          <ac:chgData name="Jyotsna .G" userId="767bc7470b6b287b" providerId="LiveId" clId="{DB1A8DAB-AE83-40DC-88AE-8B680889F1E8}" dt="2024-05-30T03:56:46.600" v="5" actId="1076"/>
          <ac:spMkLst>
            <pc:docMk/>
            <pc:sldMk cId="0" sldId="257"/>
            <ac:spMk id="5" creationId="{00000000-0000-0000-0000-000000000000}"/>
          </ac:spMkLst>
        </pc:spChg>
      </pc:sldChg>
      <pc:sldChg chg="delSp mod">
        <pc:chgData name="Jyotsna .G" userId="767bc7470b6b287b" providerId="LiveId" clId="{DB1A8DAB-AE83-40DC-88AE-8B680889F1E8}" dt="2024-05-30T04:03:38.736" v="70" actId="478"/>
        <pc:sldMkLst>
          <pc:docMk/>
          <pc:sldMk cId="0" sldId="262"/>
        </pc:sldMkLst>
        <pc:picChg chg="del">
          <ac:chgData name="Jyotsna .G" userId="767bc7470b6b287b" providerId="LiveId" clId="{DB1A8DAB-AE83-40DC-88AE-8B680889F1E8}" dt="2024-05-30T04:03:38.736" v="70" actId="478"/>
          <ac:picMkLst>
            <pc:docMk/>
            <pc:sldMk cId="0" sldId="262"/>
            <ac:picMk id="13" creationId="{00000000-0000-0000-0000-000000000000}"/>
          </ac:picMkLst>
        </pc:picChg>
      </pc:sldChg>
      <pc:sldChg chg="modSp mod">
        <pc:chgData name="Jyotsna .G" userId="767bc7470b6b287b" providerId="LiveId" clId="{DB1A8DAB-AE83-40DC-88AE-8B680889F1E8}" dt="2024-05-30T03:55:15.915" v="0" actId="20577"/>
        <pc:sldMkLst>
          <pc:docMk/>
          <pc:sldMk cId="0" sldId="265"/>
        </pc:sldMkLst>
        <pc:spChg chg="mod">
          <ac:chgData name="Jyotsna .G" userId="767bc7470b6b287b" providerId="LiveId" clId="{DB1A8DAB-AE83-40DC-88AE-8B680889F1E8}" dt="2024-05-30T03:55:15.915" v="0" actId="20577"/>
          <ac:spMkLst>
            <pc:docMk/>
            <pc:sldMk cId="0" sldId="265"/>
            <ac:spMk id="4" creationId="{00000000-0000-0000-0000-000000000000}"/>
          </ac:spMkLst>
        </pc:spChg>
      </pc:sldChg>
      <pc:sldChg chg="addSp modSp mod">
        <pc:chgData name="Jyotsna .G" userId="767bc7470b6b287b" providerId="LiveId" clId="{DB1A8DAB-AE83-40DC-88AE-8B680889F1E8}" dt="2024-05-30T04:03:02.691" v="69" actId="2711"/>
        <pc:sldMkLst>
          <pc:docMk/>
          <pc:sldMk cId="3108082249" sldId="266"/>
        </pc:sldMkLst>
        <pc:spChg chg="mod">
          <ac:chgData name="Jyotsna .G" userId="767bc7470b6b287b" providerId="LiveId" clId="{DB1A8DAB-AE83-40DC-88AE-8B680889F1E8}" dt="2024-05-30T03:58:30.606" v="14" actId="1076"/>
          <ac:spMkLst>
            <pc:docMk/>
            <pc:sldMk cId="3108082249" sldId="266"/>
            <ac:spMk id="3" creationId="{00000000-0000-0000-0000-000000000000}"/>
          </ac:spMkLst>
        </pc:spChg>
        <pc:spChg chg="mod">
          <ac:chgData name="Jyotsna .G" userId="767bc7470b6b287b" providerId="LiveId" clId="{DB1A8DAB-AE83-40DC-88AE-8B680889F1E8}" dt="2024-05-30T03:58:24.478" v="13" actId="122"/>
          <ac:spMkLst>
            <pc:docMk/>
            <pc:sldMk cId="3108082249" sldId="266"/>
            <ac:spMk id="4" creationId="{00000000-0000-0000-0000-000000000000}"/>
          </ac:spMkLst>
        </pc:spChg>
        <pc:spChg chg="add mod">
          <ac:chgData name="Jyotsna .G" userId="767bc7470b6b287b" providerId="LiveId" clId="{DB1A8DAB-AE83-40DC-88AE-8B680889F1E8}" dt="2024-05-30T04:03:02.691" v="69" actId="2711"/>
          <ac:spMkLst>
            <pc:docMk/>
            <pc:sldMk cId="3108082249" sldId="266"/>
            <ac:spMk id="5" creationId="{25617DAF-8993-8949-F077-F8D8968B2945}"/>
          </ac:spMkLst>
        </pc:spChg>
        <pc:spChg chg="mod">
          <ac:chgData name="Jyotsna .G" userId="767bc7470b6b287b" providerId="LiveId" clId="{DB1A8DAB-AE83-40DC-88AE-8B680889F1E8}" dt="2024-05-30T03:58:36.417" v="15" actId="1076"/>
          <ac:spMkLst>
            <pc:docMk/>
            <pc:sldMk cId="3108082249" sldId="266"/>
            <ac:spMk id="1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5/30/2024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0719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1620" y="0"/>
            <a:ext cx="5486400" cy="822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3199" y="2137410"/>
            <a:ext cx="7477601" cy="19164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7545"/>
              </a:lnSpc>
              <a:buNone/>
            </a:pPr>
            <a:r>
              <a:rPr lang="en-US" sz="6036" dirty="0">
                <a:solidFill>
                  <a:srgbClr val="EBCCB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Emotional Health Analyzer</a:t>
            </a:r>
            <a:endParaRPr lang="en-US" sz="6036" dirty="0"/>
          </a:p>
        </p:txBody>
      </p:sp>
      <p:sp>
        <p:nvSpPr>
          <p:cNvPr id="6" name="Text 3"/>
          <p:cNvSpPr/>
          <p:nvPr/>
        </p:nvSpPr>
        <p:spPr>
          <a:xfrm>
            <a:off x="833199" y="4387096"/>
            <a:ext cx="7477601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Gain insights into your emotional well-being with our comprehensive Emotional Health Analyzer. Uncover patterns and trends to better understand and manage your emotions.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1299686" y="5703213"/>
            <a:ext cx="1807964" cy="38885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3062"/>
              </a:lnSpc>
              <a:buNone/>
            </a:pPr>
            <a:endParaRPr lang="en-US" sz="218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sp>
        <p:nvSpPr>
          <p:cNvPr id="4" name="Text 2"/>
          <p:cNvSpPr/>
          <p:nvPr/>
        </p:nvSpPr>
        <p:spPr>
          <a:xfrm>
            <a:off x="2037993" y="707112"/>
            <a:ext cx="6654641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EBCCB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What is Emotional Health?</a:t>
            </a:r>
            <a:endParaRPr lang="en-US" sz="4374" dirty="0"/>
          </a:p>
        </p:txBody>
      </p:sp>
      <p:sp>
        <p:nvSpPr>
          <p:cNvPr id="5" name="Text 3"/>
          <p:cNvSpPr/>
          <p:nvPr/>
        </p:nvSpPr>
        <p:spPr>
          <a:xfrm>
            <a:off x="2030373" y="2108597"/>
            <a:ext cx="5006221" cy="32824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240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Emotional health refers to an individual's ability to manage their thoughts, feelings, and behaviors in a healthy and productive manner. It encompasses our overall well-being, including our capacity to cope with life's challenges, maintain positive relationships, and find fulfillment.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3806" y="1984653"/>
            <a:ext cx="5006221" cy="528780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sp>
        <p:nvSpPr>
          <p:cNvPr id="4" name="Text 2"/>
          <p:cNvSpPr/>
          <p:nvPr/>
        </p:nvSpPr>
        <p:spPr>
          <a:xfrm>
            <a:off x="2037993" y="1437084"/>
            <a:ext cx="7999809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EBCCB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Importance of Emotional Health</a:t>
            </a:r>
            <a:endParaRPr lang="en-US" sz="4374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7993" y="2575798"/>
            <a:ext cx="3295888" cy="20369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37993" y="4890373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dirty="0">
                <a:solidFill>
                  <a:srgbClr val="EBCCB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Improved Well-Being</a:t>
            </a:r>
            <a:endParaRPr lang="en-US" sz="2187" dirty="0"/>
          </a:p>
        </p:txBody>
      </p:sp>
      <p:sp>
        <p:nvSpPr>
          <p:cNvPr id="7" name="Text 4"/>
          <p:cNvSpPr/>
          <p:nvPr/>
        </p:nvSpPr>
        <p:spPr>
          <a:xfrm>
            <a:off x="2037993" y="5370790"/>
            <a:ext cx="3295888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Strong emotional health promotes a positive outlook, higher life satisfaction, and enhanced overall well-being.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7137" y="2575798"/>
            <a:ext cx="3296007" cy="2037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7137" y="4890492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dirty="0">
                <a:solidFill>
                  <a:srgbClr val="EBCCB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Better Relationships</a:t>
            </a:r>
            <a:endParaRPr lang="en-US" sz="2187" dirty="0"/>
          </a:p>
        </p:txBody>
      </p:sp>
      <p:sp>
        <p:nvSpPr>
          <p:cNvPr id="10" name="Text 6"/>
          <p:cNvSpPr/>
          <p:nvPr/>
        </p:nvSpPr>
        <p:spPr>
          <a:xfrm>
            <a:off x="5667137" y="5370909"/>
            <a:ext cx="3296007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Emotionally healthy individuals tend to have stronger, more fulfilling interpersonal relationships and connections.</a:t>
            </a:r>
            <a:endParaRPr lang="en-US" sz="17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6400" y="2575798"/>
            <a:ext cx="3296007" cy="2037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296400" y="4890492"/>
            <a:ext cx="2987159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dirty="0">
                <a:solidFill>
                  <a:srgbClr val="EBCCB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Physical Health Benefits</a:t>
            </a:r>
            <a:endParaRPr lang="en-US" sz="2187" dirty="0"/>
          </a:p>
        </p:txBody>
      </p:sp>
      <p:sp>
        <p:nvSpPr>
          <p:cNvPr id="13" name="Text 8"/>
          <p:cNvSpPr/>
          <p:nvPr/>
        </p:nvSpPr>
        <p:spPr>
          <a:xfrm>
            <a:off x="9296400" y="5370909"/>
            <a:ext cx="3296007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Emotional wellness can contribute to better physical health outcomes, including reduced risk of chronic diseases.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sp>
        <p:nvSpPr>
          <p:cNvPr id="4" name="Text 2"/>
          <p:cNvSpPr/>
          <p:nvPr/>
        </p:nvSpPr>
        <p:spPr>
          <a:xfrm>
            <a:off x="2037993" y="1282422"/>
            <a:ext cx="8692991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EBCCB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Factors Affecting Emotional Health</a:t>
            </a:r>
            <a:endParaRPr lang="en-US" sz="4374" dirty="0"/>
          </a:p>
        </p:txBody>
      </p:sp>
      <p:sp>
        <p:nvSpPr>
          <p:cNvPr id="5" name="Shape 3"/>
          <p:cNvSpPr/>
          <p:nvPr/>
        </p:nvSpPr>
        <p:spPr>
          <a:xfrm>
            <a:off x="2037993" y="2650331"/>
            <a:ext cx="388739" cy="388739"/>
          </a:xfrm>
          <a:prstGeom prst="roundRect">
            <a:avLst>
              <a:gd name="adj" fmla="val 34295"/>
            </a:avLst>
          </a:prstGeom>
          <a:solidFill>
            <a:srgbClr val="343131"/>
          </a:solidFill>
          <a:ln/>
        </p:spPr>
      </p:sp>
      <p:sp>
        <p:nvSpPr>
          <p:cNvPr id="6" name="Text 4"/>
          <p:cNvSpPr/>
          <p:nvPr/>
        </p:nvSpPr>
        <p:spPr>
          <a:xfrm>
            <a:off x="2648903" y="2671048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EBCCB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Stress and Anxiety</a:t>
            </a:r>
            <a:endParaRPr lang="en-US" sz="2187" dirty="0"/>
          </a:p>
        </p:txBody>
      </p:sp>
      <p:sp>
        <p:nvSpPr>
          <p:cNvPr id="7" name="Text 5"/>
          <p:cNvSpPr/>
          <p:nvPr/>
        </p:nvSpPr>
        <p:spPr>
          <a:xfrm>
            <a:off x="2648903" y="3151465"/>
            <a:ext cx="4555212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High levels of stress and anxiety can take a toll on our emotional well-being, leading to feelings of overwhelm, irritability, and difficulty focusing.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6285" y="2650331"/>
            <a:ext cx="388739" cy="388739"/>
          </a:xfrm>
          <a:prstGeom prst="roundRect">
            <a:avLst>
              <a:gd name="adj" fmla="val 34295"/>
            </a:avLst>
          </a:prstGeom>
          <a:solidFill>
            <a:srgbClr val="343131"/>
          </a:solidFill>
          <a:ln/>
        </p:spPr>
      </p:sp>
      <p:sp>
        <p:nvSpPr>
          <p:cNvPr id="9" name="Text 7"/>
          <p:cNvSpPr/>
          <p:nvPr/>
        </p:nvSpPr>
        <p:spPr>
          <a:xfrm>
            <a:off x="8037195" y="2671048"/>
            <a:ext cx="4069437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EBCCB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Relationships and Social Support</a:t>
            </a:r>
            <a:endParaRPr lang="en-US" sz="2187" dirty="0"/>
          </a:p>
        </p:txBody>
      </p:sp>
      <p:sp>
        <p:nvSpPr>
          <p:cNvPr id="10" name="Text 8"/>
          <p:cNvSpPr/>
          <p:nvPr/>
        </p:nvSpPr>
        <p:spPr>
          <a:xfrm>
            <a:off x="8037195" y="3151465"/>
            <a:ext cx="4555212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Strong, supportive relationships and a sense of community can nurture our emotional health, while toxic or isolated environments can be detrimental.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2037993" y="5024438"/>
            <a:ext cx="388739" cy="388739"/>
          </a:xfrm>
          <a:prstGeom prst="roundRect">
            <a:avLst>
              <a:gd name="adj" fmla="val 34295"/>
            </a:avLst>
          </a:prstGeom>
          <a:solidFill>
            <a:srgbClr val="343131"/>
          </a:solidFill>
          <a:ln/>
        </p:spPr>
      </p:sp>
      <p:sp>
        <p:nvSpPr>
          <p:cNvPr id="12" name="Text 10"/>
          <p:cNvSpPr/>
          <p:nvPr/>
        </p:nvSpPr>
        <p:spPr>
          <a:xfrm>
            <a:off x="2648903" y="5045154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EBCCB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Lifestyle Factors</a:t>
            </a:r>
            <a:endParaRPr lang="en-US" sz="2187" dirty="0"/>
          </a:p>
        </p:txBody>
      </p:sp>
      <p:sp>
        <p:nvSpPr>
          <p:cNvPr id="13" name="Text 11"/>
          <p:cNvSpPr/>
          <p:nvPr/>
        </p:nvSpPr>
        <p:spPr>
          <a:xfrm>
            <a:off x="2648903" y="5525572"/>
            <a:ext cx="4555212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Things like diet, exercise, sleep, and work-life balance can significantly impact our emotional well-being, either positively or negatively.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426285" y="5024438"/>
            <a:ext cx="388739" cy="388739"/>
          </a:xfrm>
          <a:prstGeom prst="roundRect">
            <a:avLst>
              <a:gd name="adj" fmla="val 34295"/>
            </a:avLst>
          </a:prstGeom>
          <a:solidFill>
            <a:srgbClr val="343131"/>
          </a:solidFill>
          <a:ln/>
        </p:spPr>
      </p:sp>
      <p:sp>
        <p:nvSpPr>
          <p:cNvPr id="15" name="Text 13"/>
          <p:cNvSpPr/>
          <p:nvPr/>
        </p:nvSpPr>
        <p:spPr>
          <a:xfrm>
            <a:off x="8037195" y="5045154"/>
            <a:ext cx="2827972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EBCCB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Traumatic Experiences</a:t>
            </a:r>
            <a:endParaRPr lang="en-US" sz="2187" dirty="0"/>
          </a:p>
        </p:txBody>
      </p:sp>
      <p:sp>
        <p:nvSpPr>
          <p:cNvPr id="16" name="Text 14"/>
          <p:cNvSpPr/>
          <p:nvPr/>
        </p:nvSpPr>
        <p:spPr>
          <a:xfrm>
            <a:off x="8037195" y="5525572"/>
            <a:ext cx="4555212" cy="1421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Unresolved trauma, whether from childhood or adulthood, can contribute to emotional health challenges, such as depression, anxiety, and PTSD.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sp>
        <p:nvSpPr>
          <p:cNvPr id="4" name="Text 2"/>
          <p:cNvSpPr/>
          <p:nvPr/>
        </p:nvSpPr>
        <p:spPr>
          <a:xfrm>
            <a:off x="2037993" y="1672471"/>
            <a:ext cx="8888016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EBCCB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Identifying Emotional Health Issues</a:t>
            </a:r>
            <a:endParaRPr lang="en-US" sz="4374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7993" y="2811185"/>
            <a:ext cx="555427" cy="5554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37993" y="3588782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dirty="0">
                <a:solidFill>
                  <a:srgbClr val="EBCCB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Emotional Indicators</a:t>
            </a:r>
            <a:endParaRPr lang="en-US" sz="2187" dirty="0"/>
          </a:p>
        </p:txBody>
      </p:sp>
      <p:sp>
        <p:nvSpPr>
          <p:cNvPr id="7" name="Text 4"/>
          <p:cNvSpPr/>
          <p:nvPr/>
        </p:nvSpPr>
        <p:spPr>
          <a:xfrm>
            <a:off x="2037993" y="4069199"/>
            <a:ext cx="3295888" cy="21324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Pay attention to persistent changes in mood, energy levels, sleep patterns, appetite, and ability to focus. These can be signs of underlying emotional health concerns.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7137" y="2811185"/>
            <a:ext cx="555427" cy="55542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7137" y="3588782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dirty="0">
                <a:solidFill>
                  <a:srgbClr val="EBCCB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Stress and Anxiety</a:t>
            </a:r>
            <a:endParaRPr lang="en-US" sz="2187" dirty="0"/>
          </a:p>
        </p:txBody>
      </p:sp>
      <p:sp>
        <p:nvSpPr>
          <p:cNvPr id="10" name="Text 6"/>
          <p:cNvSpPr/>
          <p:nvPr/>
        </p:nvSpPr>
        <p:spPr>
          <a:xfrm>
            <a:off x="5667137" y="4069199"/>
            <a:ext cx="3296007" cy="21324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High levels of stress or anxiety that interfere with daily life may indicate the need for emotional support. Look for physical symptoms like tension, headaches, or rapid heartbeat.</a:t>
            </a:r>
            <a:endParaRPr lang="en-US" sz="17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6400" y="2811185"/>
            <a:ext cx="555427" cy="55542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296400" y="3588782"/>
            <a:ext cx="2960489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dirty="0">
                <a:solidFill>
                  <a:srgbClr val="EBCCB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Relationship Challenges</a:t>
            </a:r>
            <a:endParaRPr lang="en-US" sz="2187" dirty="0"/>
          </a:p>
        </p:txBody>
      </p:sp>
      <p:sp>
        <p:nvSpPr>
          <p:cNvPr id="13" name="Text 8"/>
          <p:cNvSpPr/>
          <p:nvPr/>
        </p:nvSpPr>
        <p:spPr>
          <a:xfrm>
            <a:off x="9296400" y="4069199"/>
            <a:ext cx="3296007" cy="24878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Difficulties in personal or professional relationships, increased conflict, or withdrawal from loved ones can signal emotional health struggles. Be aware of changes in your social interactions.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sp>
        <p:nvSpPr>
          <p:cNvPr id="4" name="Text 2"/>
          <p:cNvSpPr/>
          <p:nvPr/>
        </p:nvSpPr>
        <p:spPr>
          <a:xfrm>
            <a:off x="2037993" y="1339215"/>
            <a:ext cx="6890266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EBCCB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Assessing Emotional Health</a:t>
            </a:r>
            <a:endParaRPr lang="en-US" sz="4374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7993" y="2477929"/>
            <a:ext cx="3518059" cy="8886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60163" y="3699867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dirty="0">
                <a:solidFill>
                  <a:srgbClr val="EBCCB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Self-Reflection</a:t>
            </a:r>
            <a:endParaRPr lang="en-US" sz="2187" dirty="0"/>
          </a:p>
        </p:txBody>
      </p:sp>
      <p:sp>
        <p:nvSpPr>
          <p:cNvPr id="7" name="Text 4"/>
          <p:cNvSpPr/>
          <p:nvPr/>
        </p:nvSpPr>
        <p:spPr>
          <a:xfrm>
            <a:off x="2260163" y="4180284"/>
            <a:ext cx="3073718" cy="177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Start by taking an honest look at your thoughts, feelings, and behaviors. Consider how they impact your daily life and relationships.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6052" y="2477929"/>
            <a:ext cx="3518178" cy="88868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778222" y="3699867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dirty="0">
                <a:solidFill>
                  <a:srgbClr val="EBCCB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Questionnaires</a:t>
            </a:r>
            <a:endParaRPr lang="en-US" sz="2187" dirty="0"/>
          </a:p>
        </p:txBody>
      </p:sp>
      <p:sp>
        <p:nvSpPr>
          <p:cNvPr id="10" name="Text 6"/>
          <p:cNvSpPr/>
          <p:nvPr/>
        </p:nvSpPr>
        <p:spPr>
          <a:xfrm>
            <a:off x="5778222" y="4180284"/>
            <a:ext cx="3073837" cy="177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Use validated emotional health assessments to gain deeper insights into your overall well-being and identify potential areas of concern.</a:t>
            </a:r>
            <a:endParaRPr lang="en-US" sz="17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4229" y="2477929"/>
            <a:ext cx="3518178" cy="88868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296400" y="3699867"/>
            <a:ext cx="2907863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dirty="0">
                <a:solidFill>
                  <a:srgbClr val="EBCCB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Professional Evaluation</a:t>
            </a:r>
            <a:endParaRPr lang="en-US" sz="2187" dirty="0"/>
          </a:p>
        </p:txBody>
      </p:sp>
      <p:sp>
        <p:nvSpPr>
          <p:cNvPr id="13" name="Text 8"/>
          <p:cNvSpPr/>
          <p:nvPr/>
        </p:nvSpPr>
        <p:spPr>
          <a:xfrm>
            <a:off x="9296400" y="4180284"/>
            <a:ext cx="3073837" cy="24878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Consulting a mental health professional can provide a comprehensive evaluation and personalized recommendations for improving your emotional health.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sp>
        <p:nvSpPr>
          <p:cNvPr id="4" name="Text 2"/>
          <p:cNvSpPr/>
          <p:nvPr/>
        </p:nvSpPr>
        <p:spPr>
          <a:xfrm>
            <a:off x="2037993" y="1510070"/>
            <a:ext cx="10515481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EBCCB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Strategies for Improving Emotional Health</a:t>
            </a:r>
            <a:endParaRPr lang="en-US" sz="4374" dirty="0"/>
          </a:p>
        </p:txBody>
      </p:sp>
      <p:sp>
        <p:nvSpPr>
          <p:cNvPr id="5" name="Text 3"/>
          <p:cNvSpPr/>
          <p:nvPr/>
        </p:nvSpPr>
        <p:spPr>
          <a:xfrm>
            <a:off x="2037993" y="2759869"/>
            <a:ext cx="2232065" cy="69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EBCCB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Mindfulness Practices</a:t>
            </a:r>
            <a:endParaRPr lang="en-US" sz="2187" dirty="0"/>
          </a:p>
        </p:txBody>
      </p:sp>
      <p:sp>
        <p:nvSpPr>
          <p:cNvPr id="6" name="Text 4"/>
          <p:cNvSpPr/>
          <p:nvPr/>
        </p:nvSpPr>
        <p:spPr>
          <a:xfrm>
            <a:off x="2037993" y="3676412"/>
            <a:ext cx="2232065" cy="28432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Engage in mindfulness meditation, yoga, or deep breathing exercises to cultivate present-moment awareness and reduce stress and anxiety.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4819650" y="2759869"/>
            <a:ext cx="2232065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EBCCB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Social Connection</a:t>
            </a:r>
            <a:endParaRPr lang="en-US" sz="2187" dirty="0"/>
          </a:p>
        </p:txBody>
      </p:sp>
      <p:sp>
        <p:nvSpPr>
          <p:cNvPr id="8" name="Text 6"/>
          <p:cNvSpPr/>
          <p:nvPr/>
        </p:nvSpPr>
        <p:spPr>
          <a:xfrm>
            <a:off x="4819650" y="3329226"/>
            <a:ext cx="2232065" cy="24878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Prioritize spending quality time with supportive friends and family, engage in social activities, and build meaningful relationships.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601307" y="2759869"/>
            <a:ext cx="2232065" cy="69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EBCCB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Self-Care Routines</a:t>
            </a:r>
            <a:endParaRPr lang="en-US" sz="2187" dirty="0"/>
          </a:p>
        </p:txBody>
      </p:sp>
      <p:sp>
        <p:nvSpPr>
          <p:cNvPr id="10" name="Text 8"/>
          <p:cNvSpPr/>
          <p:nvPr/>
        </p:nvSpPr>
        <p:spPr>
          <a:xfrm>
            <a:off x="7601307" y="3676412"/>
            <a:ext cx="2232065" cy="24878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Establish healthy habits like regular exercise, adequate sleep, a balanced diet, and making time for hobbies and relaxation.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10382964" y="2759869"/>
            <a:ext cx="2232065" cy="6943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EBCCB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Cognitive Reframing</a:t>
            </a:r>
            <a:endParaRPr lang="en-US" sz="2187" dirty="0"/>
          </a:p>
        </p:txBody>
      </p:sp>
      <p:sp>
        <p:nvSpPr>
          <p:cNvPr id="12" name="Text 10"/>
          <p:cNvSpPr/>
          <p:nvPr/>
        </p:nvSpPr>
        <p:spPr>
          <a:xfrm>
            <a:off x="10382964" y="3676412"/>
            <a:ext cx="2232065" cy="28432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Challenge negative thought patterns and cultivate a more positive, optimistic mindset through techniques like cognitive-behavioral therapy.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1620" y="0"/>
            <a:ext cx="5486400" cy="822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3199" y="2365296"/>
            <a:ext cx="7477601" cy="13887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EBCCB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Mindfulness and Emotional Regulation</a:t>
            </a:r>
            <a:endParaRPr lang="en-US" sz="4374" dirty="0"/>
          </a:p>
        </p:txBody>
      </p:sp>
      <p:sp>
        <p:nvSpPr>
          <p:cNvPr id="6" name="Text 3"/>
          <p:cNvSpPr/>
          <p:nvPr/>
        </p:nvSpPr>
        <p:spPr>
          <a:xfrm>
            <a:off x="833199" y="4087297"/>
            <a:ext cx="7477601" cy="177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Mindfulness practices can be a powerful tool for improving emotional health. By cultivating present-moment awareness and acceptance, individuals can develop the ability to regulate their emotions more effectively. This can lead to greater emotional resilience, reduced stress and anxiety, and enhanced overall well-being.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64342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0420" y="0"/>
            <a:ext cx="3657600" cy="822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3199" y="1321237"/>
            <a:ext cx="7196137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dirty="0">
                <a:solidFill>
                  <a:srgbClr val="EBCCB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Seeking Professional Support</a:t>
            </a:r>
            <a:endParaRPr lang="en-US" sz="4374" dirty="0"/>
          </a:p>
        </p:txBody>
      </p:sp>
      <p:sp>
        <p:nvSpPr>
          <p:cNvPr id="6" name="Shape 3"/>
          <p:cNvSpPr/>
          <p:nvPr/>
        </p:nvSpPr>
        <p:spPr>
          <a:xfrm>
            <a:off x="833199" y="2348865"/>
            <a:ext cx="4542115" cy="2701766"/>
          </a:xfrm>
          <a:prstGeom prst="roundRect">
            <a:avLst>
              <a:gd name="adj" fmla="val 4935"/>
            </a:avLst>
          </a:prstGeom>
          <a:solidFill>
            <a:srgbClr val="343131"/>
          </a:solidFill>
          <a:ln/>
        </p:spPr>
      </p:sp>
      <p:sp>
        <p:nvSpPr>
          <p:cNvPr id="7" name="Text 4"/>
          <p:cNvSpPr/>
          <p:nvPr/>
        </p:nvSpPr>
        <p:spPr>
          <a:xfrm>
            <a:off x="1055370" y="2571036"/>
            <a:ext cx="277749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EBCCB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Understand the Need</a:t>
            </a:r>
            <a:endParaRPr lang="en-US" sz="2187" dirty="0"/>
          </a:p>
        </p:txBody>
      </p:sp>
      <p:sp>
        <p:nvSpPr>
          <p:cNvPr id="8" name="Text 5"/>
          <p:cNvSpPr/>
          <p:nvPr/>
        </p:nvSpPr>
        <p:spPr>
          <a:xfrm>
            <a:off x="1055370" y="3051453"/>
            <a:ext cx="4097774" cy="177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Recognizing when professional support is needed can be a crucial step in improving emotional health. This could involve consulting a therapist, counselor, or mental health specialist.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5597485" y="2348865"/>
            <a:ext cx="4542115" cy="2701766"/>
          </a:xfrm>
          <a:prstGeom prst="roundRect">
            <a:avLst>
              <a:gd name="adj" fmla="val 4935"/>
            </a:avLst>
          </a:prstGeom>
          <a:solidFill>
            <a:srgbClr val="343131"/>
          </a:solidFill>
          <a:ln/>
        </p:spPr>
      </p:sp>
      <p:sp>
        <p:nvSpPr>
          <p:cNvPr id="10" name="Text 7"/>
          <p:cNvSpPr/>
          <p:nvPr/>
        </p:nvSpPr>
        <p:spPr>
          <a:xfrm>
            <a:off x="5819656" y="2571036"/>
            <a:ext cx="3285053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EBCCB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Finding the Right Provider</a:t>
            </a:r>
            <a:endParaRPr lang="en-US" sz="2187" dirty="0"/>
          </a:p>
        </p:txBody>
      </p:sp>
      <p:sp>
        <p:nvSpPr>
          <p:cNvPr id="11" name="Text 8"/>
          <p:cNvSpPr/>
          <p:nvPr/>
        </p:nvSpPr>
        <p:spPr>
          <a:xfrm>
            <a:off x="5819656" y="3051453"/>
            <a:ext cx="4097774" cy="177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Researching qualified mental health professionals in your area and assessing their expertise, approach, and fit with your needs can help you find the right support.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833199" y="5272802"/>
            <a:ext cx="9306401" cy="1635562"/>
          </a:xfrm>
          <a:prstGeom prst="roundRect">
            <a:avLst>
              <a:gd name="adj" fmla="val 8151"/>
            </a:avLst>
          </a:prstGeom>
          <a:solidFill>
            <a:srgbClr val="343131"/>
          </a:solidFill>
          <a:ln/>
        </p:spPr>
      </p:sp>
      <p:sp>
        <p:nvSpPr>
          <p:cNvPr id="13" name="Text 10"/>
          <p:cNvSpPr/>
          <p:nvPr/>
        </p:nvSpPr>
        <p:spPr>
          <a:xfrm>
            <a:off x="1055370" y="5494972"/>
            <a:ext cx="2955131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dirty="0">
                <a:solidFill>
                  <a:srgbClr val="EBCCB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Prepare for the Sessions</a:t>
            </a:r>
            <a:endParaRPr lang="en-US" sz="2187" dirty="0"/>
          </a:p>
        </p:txBody>
      </p:sp>
      <p:sp>
        <p:nvSpPr>
          <p:cNvPr id="14" name="Text 11"/>
          <p:cNvSpPr/>
          <p:nvPr/>
        </p:nvSpPr>
        <p:spPr>
          <a:xfrm>
            <a:off x="1055370" y="5975390"/>
            <a:ext cx="8862060" cy="710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Being open and honest with the professional, setting goals, and actively participating in the process can maximize the benefits of seeking support.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32100"/>
          </a:xfrm>
          <a:prstGeom prst="rect">
            <a:avLst/>
          </a:prstGeom>
          <a:solidFill>
            <a:srgbClr val="464342"/>
          </a:solidFill>
          <a:ln/>
        </p:spPr>
      </p:sp>
      <p:sp>
        <p:nvSpPr>
          <p:cNvPr id="4" name="Text 2"/>
          <p:cNvSpPr/>
          <p:nvPr/>
        </p:nvSpPr>
        <p:spPr>
          <a:xfrm>
            <a:off x="2643545" y="540901"/>
            <a:ext cx="9343192" cy="12292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4840"/>
              </a:lnSpc>
              <a:buNone/>
            </a:pPr>
            <a:r>
              <a:rPr lang="en-US" sz="3872" dirty="0">
                <a:solidFill>
                  <a:srgbClr val="EBCCB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Maintaining Emotional Wellness </a:t>
            </a:r>
            <a:endParaRPr lang="en-US" sz="3872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3545" y="2163485"/>
            <a:ext cx="2917627" cy="18032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643545" y="4212550"/>
            <a:ext cx="2458760" cy="3073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420"/>
              </a:lnSpc>
              <a:buNone/>
            </a:pPr>
            <a:r>
              <a:rPr lang="en-US" sz="1936" dirty="0">
                <a:solidFill>
                  <a:srgbClr val="EBCCB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Mindfulness Practices</a:t>
            </a:r>
            <a:endParaRPr lang="en-US" sz="1936" dirty="0"/>
          </a:p>
        </p:txBody>
      </p:sp>
      <p:sp>
        <p:nvSpPr>
          <p:cNvPr id="7" name="Text 4"/>
          <p:cNvSpPr/>
          <p:nvPr/>
        </p:nvSpPr>
        <p:spPr>
          <a:xfrm>
            <a:off x="2643545" y="4637842"/>
            <a:ext cx="2917627" cy="15734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478"/>
              </a:lnSpc>
              <a:buNone/>
            </a:pPr>
            <a:r>
              <a:rPr lang="en-US" sz="1549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Incorporating daily mindfulness exercises like meditation, deep breathing, and yoga can help cultivate self-awareness and promote emotional balance.</a:t>
            </a:r>
            <a:endParaRPr lang="en-US" sz="1549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6208" y="2163485"/>
            <a:ext cx="2917746" cy="180320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56208" y="4212550"/>
            <a:ext cx="2458760" cy="3073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420"/>
              </a:lnSpc>
              <a:buNone/>
            </a:pPr>
            <a:r>
              <a:rPr lang="en-US" sz="1936" dirty="0">
                <a:solidFill>
                  <a:srgbClr val="EBCCB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Regular Exercise</a:t>
            </a:r>
            <a:endParaRPr lang="en-US" sz="1936" dirty="0"/>
          </a:p>
        </p:txBody>
      </p:sp>
      <p:sp>
        <p:nvSpPr>
          <p:cNvPr id="10" name="Text 6"/>
          <p:cNvSpPr/>
          <p:nvPr/>
        </p:nvSpPr>
        <p:spPr>
          <a:xfrm>
            <a:off x="5856208" y="4637842"/>
            <a:ext cx="2917746" cy="15734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478"/>
              </a:lnSpc>
              <a:buNone/>
            </a:pPr>
            <a:r>
              <a:rPr lang="en-US" sz="1549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Physical activity releases endorphins, reduces stress, and boosts mood, making it a powerful tool for maintaining emotional wellness.</a:t>
            </a:r>
            <a:endParaRPr lang="en-US" sz="1549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8991" y="2163485"/>
            <a:ext cx="2917746" cy="180320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068991" y="4212550"/>
            <a:ext cx="2458760" cy="3073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420"/>
              </a:lnSpc>
              <a:buNone/>
            </a:pPr>
            <a:r>
              <a:rPr lang="en-US" sz="1936" dirty="0">
                <a:solidFill>
                  <a:srgbClr val="EBCCB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Journaling</a:t>
            </a:r>
            <a:endParaRPr lang="en-US" sz="1936" dirty="0"/>
          </a:p>
        </p:txBody>
      </p:sp>
      <p:sp>
        <p:nvSpPr>
          <p:cNvPr id="13" name="Text 8"/>
          <p:cNvSpPr/>
          <p:nvPr/>
        </p:nvSpPr>
        <p:spPr>
          <a:xfrm>
            <a:off x="9068991" y="4637842"/>
            <a:ext cx="2917746" cy="12587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478"/>
              </a:lnSpc>
              <a:buNone/>
            </a:pPr>
            <a:r>
              <a:rPr lang="en-US" sz="1549" dirty="0">
                <a:solidFill>
                  <a:srgbClr val="C9C2C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Expressing thoughts and feelings through journaling can provide an outlet for processing emotions and promote self-reflection.</a:t>
            </a:r>
            <a:endParaRPr lang="en-US" sz="1549" dirty="0"/>
          </a:p>
        </p:txBody>
      </p:sp>
      <p:sp>
        <p:nvSpPr>
          <p:cNvPr id="14" name="Text 9"/>
          <p:cNvSpPr/>
          <p:nvPr/>
        </p:nvSpPr>
        <p:spPr>
          <a:xfrm>
            <a:off x="2643545" y="6432471"/>
            <a:ext cx="9343192" cy="12587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78"/>
              </a:lnSpc>
              <a:buNone/>
            </a:pPr>
            <a:endParaRPr lang="en-US" sz="1549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302D2C"/>
          </a:solidFill>
          <a:ln/>
        </p:spPr>
      </p:sp>
      <p:sp>
        <p:nvSpPr>
          <p:cNvPr id="3" name="Shape 1"/>
          <p:cNvSpPr/>
          <p:nvPr/>
        </p:nvSpPr>
        <p:spPr>
          <a:xfrm>
            <a:off x="-119" y="0"/>
            <a:ext cx="14630400" cy="8232100"/>
          </a:xfrm>
          <a:prstGeom prst="rect">
            <a:avLst/>
          </a:prstGeom>
          <a:solidFill>
            <a:srgbClr val="464342"/>
          </a:solidFill>
          <a:ln/>
        </p:spPr>
      </p:sp>
      <p:sp>
        <p:nvSpPr>
          <p:cNvPr id="4" name="Text 2"/>
          <p:cNvSpPr/>
          <p:nvPr/>
        </p:nvSpPr>
        <p:spPr>
          <a:xfrm>
            <a:off x="2033944" y="641131"/>
            <a:ext cx="9952793" cy="89337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4840"/>
              </a:lnSpc>
              <a:buNone/>
            </a:pPr>
            <a:r>
              <a:rPr lang="en-US" sz="6000" u="sng" dirty="0">
                <a:solidFill>
                  <a:srgbClr val="EBCCB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Conclusion</a:t>
            </a:r>
            <a:endParaRPr lang="en-US" sz="6000" u="sng" dirty="0"/>
          </a:p>
        </p:txBody>
      </p:sp>
      <p:sp>
        <p:nvSpPr>
          <p:cNvPr id="7" name="Text 4"/>
          <p:cNvSpPr/>
          <p:nvPr/>
        </p:nvSpPr>
        <p:spPr>
          <a:xfrm>
            <a:off x="2643545" y="4637842"/>
            <a:ext cx="2917627" cy="15734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478"/>
              </a:lnSpc>
              <a:buNone/>
            </a:pPr>
            <a:endParaRPr lang="en-US" sz="1549" dirty="0"/>
          </a:p>
        </p:txBody>
      </p:sp>
      <p:sp>
        <p:nvSpPr>
          <p:cNvPr id="9" name="Text 5"/>
          <p:cNvSpPr/>
          <p:nvPr/>
        </p:nvSpPr>
        <p:spPr>
          <a:xfrm>
            <a:off x="5856208" y="4212550"/>
            <a:ext cx="2458760" cy="3073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420"/>
              </a:lnSpc>
              <a:buNone/>
            </a:pPr>
            <a:endParaRPr lang="en-US" sz="1936" dirty="0"/>
          </a:p>
        </p:txBody>
      </p:sp>
      <p:sp>
        <p:nvSpPr>
          <p:cNvPr id="10" name="Text 6"/>
          <p:cNvSpPr/>
          <p:nvPr/>
        </p:nvSpPr>
        <p:spPr>
          <a:xfrm>
            <a:off x="5856208" y="4637842"/>
            <a:ext cx="2917746" cy="15734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478"/>
              </a:lnSpc>
              <a:buNone/>
            </a:pPr>
            <a:endParaRPr lang="en-US" sz="1549" dirty="0"/>
          </a:p>
        </p:txBody>
      </p:sp>
      <p:sp>
        <p:nvSpPr>
          <p:cNvPr id="12" name="Text 7"/>
          <p:cNvSpPr/>
          <p:nvPr/>
        </p:nvSpPr>
        <p:spPr>
          <a:xfrm>
            <a:off x="9068991" y="4212550"/>
            <a:ext cx="2458760" cy="3073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420"/>
              </a:lnSpc>
              <a:buNone/>
            </a:pPr>
            <a:endParaRPr lang="en-US" sz="1936" dirty="0"/>
          </a:p>
        </p:txBody>
      </p:sp>
      <p:sp>
        <p:nvSpPr>
          <p:cNvPr id="13" name="Text 8"/>
          <p:cNvSpPr/>
          <p:nvPr/>
        </p:nvSpPr>
        <p:spPr>
          <a:xfrm>
            <a:off x="9068991" y="4637842"/>
            <a:ext cx="2917746" cy="12587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478"/>
              </a:lnSpc>
              <a:buNone/>
            </a:pPr>
            <a:endParaRPr lang="en-US" sz="1549" dirty="0"/>
          </a:p>
        </p:txBody>
      </p:sp>
      <p:sp>
        <p:nvSpPr>
          <p:cNvPr id="14" name="Text 9"/>
          <p:cNvSpPr/>
          <p:nvPr/>
        </p:nvSpPr>
        <p:spPr>
          <a:xfrm>
            <a:off x="3059178" y="2559223"/>
            <a:ext cx="8106518" cy="36520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78"/>
              </a:lnSpc>
              <a:buNone/>
            </a:pPr>
            <a:r>
              <a:rPr lang="en-US" sz="2800" dirty="0">
                <a:solidFill>
                  <a:srgbClr val="C9C2C0"/>
                </a:solidFill>
                <a:latin typeface="Times New Roman" panose="02020603050405020304" pitchFamily="18" charset="0"/>
                <a:ea typeface="Gelasio" pitchFamily="34" charset="-122"/>
                <a:cs typeface="Times New Roman" panose="02020603050405020304" pitchFamily="18" charset="0"/>
              </a:rPr>
              <a:t>Prioritizing emotional health is crucial for overall well-being. By incorporating mindfulness practices, regular exercise, and journaling into our daily routines, we can cultivate the self-awareness and coping strategies needed to maintain emotional wellness over the long term. Remember, taking care of our emotional needs is just as important as caring for our physical health.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617DAF-8993-8949-F077-F8D8968B2945}"/>
              </a:ext>
            </a:extLst>
          </p:cNvPr>
          <p:cNvSpPr txBox="1"/>
          <p:nvPr/>
        </p:nvSpPr>
        <p:spPr>
          <a:xfrm>
            <a:off x="1254369" y="6072554"/>
            <a:ext cx="115355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Bookman Old Style" panose="02050604050505020204" pitchFamily="18" charset="0"/>
              </a:rPr>
              <a:t>DISCOVER YOUR EMOTIONAL WELL-BEING WITH US!</a:t>
            </a:r>
          </a:p>
        </p:txBody>
      </p:sp>
    </p:spTree>
    <p:extLst>
      <p:ext uri="{BB962C8B-B14F-4D97-AF65-F5344CB8AC3E}">
        <p14:creationId xmlns:p14="http://schemas.microsoft.com/office/powerpoint/2010/main" val="31080822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820</Words>
  <Application>Microsoft Office PowerPoint</Application>
  <PresentationFormat>Custom</PresentationFormat>
  <Paragraphs>73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Bookman Old Style</vt:lpstr>
      <vt:lpstr>Calibri</vt:lpstr>
      <vt:lpstr>Gelasio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Jyotsna .G</dc:creator>
  <cp:lastModifiedBy>Jyotsna .G</cp:lastModifiedBy>
  <cp:revision>2</cp:revision>
  <dcterms:modified xsi:type="dcterms:W3CDTF">2024-05-30T04:03:47Z</dcterms:modified>
</cp:coreProperties>
</file>